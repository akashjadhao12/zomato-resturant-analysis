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64" r:id="rId12"/>
    <p:sldId id="266" r:id="rId13"/>
    <p:sldId id="274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274320"/>
            <a:ext cx="1828800" cy="1828800"/>
          </a:xfrm>
          <a:prstGeom prst="ellipse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2103120"/>
            <a:ext cx="1097280" cy="1097280"/>
          </a:xfrm>
          <a:prstGeom prst="ellipse">
            <a:avLst/>
          </a:prstGeom>
          <a:solidFill>
            <a:srgbClr val="910F27"/>
          </a:solidFill>
          <a:ln>
            <a:solidFill>
              <a:srgbClr val="910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4389120"/>
            <a:ext cx="1463040" cy="1463040"/>
          </a:xfrm>
          <a:prstGeom prst="ellipse">
            <a:avLst/>
          </a:prstGeom>
          <a:solidFill>
            <a:srgbClr val="690F21"/>
          </a:solidFill>
          <a:ln>
            <a:solidFill>
              <a:srgbClr val="690F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4754880"/>
            <a:ext cx="640080" cy="640080"/>
          </a:xfrm>
          <a:prstGeom prst="ellipse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DATA ANALYTICS • SQL • BUSINESS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8046720" cy="114300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Zomato Restaurant
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6858000" cy="6400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900" b="0" i="0">
                <a:solidFill>
                  <a:srgbClr val="FFE1E7"/>
                </a:solidFill>
                <a:latin typeface="Aptos"/>
              </a:rPr>
              <a:t>From relational data to actionable business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80"/>
            <a:ext cx="5852160" cy="1600200"/>
          </a:xfrm>
          <a:prstGeom prst="roundRect">
            <a:avLst>
              <a:gd name="adj" fmla="val 12000"/>
            </a:avLst>
          </a:prstGeom>
          <a:solidFill>
            <a:srgbClr val="531426"/>
          </a:solidFill>
          <a:ln>
            <a:solidFill>
              <a:srgbClr val="82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530352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TEAM  •  SELECT STAR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53641"/>
            <a:ext cx="5303520" cy="960263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Yukta Jaysingpure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Monika Mengawade</a:t>
            </a:r>
            <a:r>
              <a:rPr sz="1500" b="0" i="0" dirty="0">
                <a:solidFill>
                  <a:srgbClr val="FFFFFF"/>
                </a:solidFill>
                <a:latin typeface="Aptos"/>
              </a:rPr>
              <a:t>
</a:t>
            </a:r>
            <a:r>
              <a:rPr lang="en-GB" sz="1500" b="0" i="0" dirty="0">
                <a:solidFill>
                  <a:srgbClr val="FFFFFF"/>
                </a:solidFill>
                <a:latin typeface="Aptos"/>
              </a:rPr>
              <a:t>Akash Jadhao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500" b="0" i="0" dirty="0">
                <a:solidFill>
                  <a:srgbClr val="FFFFFF"/>
                </a:solidFill>
                <a:latin typeface="Aptos"/>
              </a:rPr>
              <a:t>Revan </a:t>
            </a:r>
            <a:r>
              <a:rPr sz="1500" b="0" i="0" dirty="0" err="1">
                <a:solidFill>
                  <a:srgbClr val="FFFFFF"/>
                </a:solidFill>
                <a:latin typeface="Aptos"/>
              </a:rPr>
              <a:t>Gunjal</a:t>
            </a:r>
            <a:endParaRPr sz="15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594360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BECD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Business objective, scope and analytical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02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18288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33467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THE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56232"/>
            <a:ext cx="33467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Analyze the Zomato restaurant database with SQL to uncover business insights and support data-driven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508760"/>
            <a:ext cx="33467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25EA5"/>
                </a:solidFill>
                <a:latin typeface="Aptos"/>
              </a:rPr>
              <a:t>WHAT THE DATA COVERS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56232"/>
            <a:ext cx="33467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Restaurants • Customers • Menu items
Orders • Payments &amp; delivery details
Ratings &amp; customer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182880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1" y="1508760"/>
            <a:ext cx="316382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0844F"/>
                </a:solidFill>
                <a:latin typeface="Aptos"/>
              </a:rPr>
              <a:t>EXPECTED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856232"/>
            <a:ext cx="316382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Validated SQL results, a Power BI dashboard, business insights and practical recommendations.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700" b="1" i="0">
                <a:solidFill>
                  <a:srgbClr val="410E1B"/>
                </a:solidFill>
                <a:latin typeface="Aptos"/>
              </a:rPr>
              <a:t>PROJECT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26262D"/>
                </a:solidFill>
                <a:latin typeface="Aptos"/>
              </a:rPr>
              <a:t>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96312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9464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9464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26262D"/>
                </a:solidFill>
                <a:latin typeface="Aptos"/>
              </a:rPr>
              <a:t>SQL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71416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26262D"/>
                </a:solidFill>
                <a:latin typeface="Aptos"/>
              </a:rPr>
              <a:t>SQL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0176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4572000"/>
            <a:ext cx="274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2400" b="1" i="0">
                <a:solidFill>
                  <a:srgbClr val="BE1230"/>
                </a:solidFill>
                <a:latin typeface="Apto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02168" y="4343400"/>
            <a:ext cx="1572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0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4425696"/>
            <a:ext cx="14173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100" b="1" i="0">
                <a:solidFill>
                  <a:srgbClr val="BE1230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4663440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 dirty="0">
                <a:solidFill>
                  <a:srgbClr val="26262D"/>
                </a:solidFill>
                <a:latin typeface="Aptos"/>
              </a:rPr>
              <a:t>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5216" y="4681728"/>
            <a:ext cx="14173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 dirty="0">
                <a:solidFill>
                  <a:srgbClr val="26262D"/>
                </a:solidFill>
                <a:latin typeface="Aptos"/>
              </a:rPr>
              <a:t>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A structured process from question definition to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03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099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673351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Understand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7568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Define business questions and objectives.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99432" y="17099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1709928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673351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Study the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07568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Explore tables, keys and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08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39912" y="17099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709928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1673351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Write SQL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07568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Build and test analytical queries.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58952" y="3675887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3675887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639312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Execute &amp; 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404164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Verify outputs against expected results.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47472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99431" y="3675887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1" y="3675887"/>
            <a:ext cx="50292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639312"/>
            <a:ext cx="24231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Generate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4041648"/>
            <a:ext cx="2423160" cy="621792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200" b="0" i="0">
                <a:solidFill>
                  <a:srgbClr val="696973"/>
                </a:solidFill>
                <a:latin typeface="Aptos"/>
              </a:rPr>
              <a:t>Interpret results and recommend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MySQL relational database • Source slide reports five key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04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9728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600" b="1" i="0">
                <a:solidFill>
                  <a:srgbClr val="410E1B"/>
                </a:solidFill>
                <a:latin typeface="Aptos"/>
              </a:rPr>
              <a:t>TABLE INVENTORY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14884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1810512"/>
            <a:ext cx="2011679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1783080"/>
            <a:ext cx="178308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1" y="1810512"/>
            <a:ext cx="16459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783080"/>
            <a:ext cx="178308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810512"/>
            <a:ext cx="164592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83080"/>
            <a:ext cx="4709160" cy="4572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810512"/>
            <a:ext cx="457200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Key / relationship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95144"/>
            <a:ext cx="214884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1" y="2331720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2295144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07791" y="2331720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295144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2331720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295144"/>
            <a:ext cx="470916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331720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user_id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898648"/>
            <a:ext cx="214884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" y="2935224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restaurant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39" y="2898648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07791" y="2935224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148,541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898648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2935224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98648"/>
            <a:ext cx="470916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2935224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restaurant 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502152"/>
            <a:ext cx="214884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1" y="3538728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orders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39" y="3502152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07791" y="3538728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150,281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502152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36592" y="3538728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502152"/>
            <a:ext cx="470916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5392" y="3538728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user_id and r_id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105656"/>
            <a:ext cx="214884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1" y="4142232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menu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39" y="4105656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07791" y="4142232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1,179,936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105656"/>
            <a:ext cx="178308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36592" y="4142232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105656"/>
            <a:ext cx="4709160" cy="539496"/>
          </a:xfrm>
          <a:prstGeom prst="rect">
            <a:avLst/>
          </a:prstGeom>
          <a:solidFill>
            <a:srgbClr val="FFF1F4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4142232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menu_id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709160"/>
            <a:ext cx="214884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1" y="4745736"/>
            <a:ext cx="2011679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1" i="0">
                <a:solidFill>
                  <a:srgbClr val="26262D"/>
                </a:solidFill>
                <a:latin typeface="Aptos"/>
              </a:rPr>
              <a:t>food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39" y="4709160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07791" y="4745736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371,561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4709160"/>
            <a:ext cx="1783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36592" y="4745736"/>
            <a:ext cx="164592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4709160"/>
            <a:ext cx="470916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65392" y="4745736"/>
            <a:ext cx="457200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300" b="0" i="0">
                <a:solidFill>
                  <a:srgbClr val="26262D"/>
                </a:solidFill>
                <a:latin typeface="Aptos"/>
              </a:rPr>
              <a:t>f_id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5440680"/>
            <a:ext cx="10515600" cy="502920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" y="5486400"/>
            <a:ext cx="1014984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 dirty="0">
                <a:solidFill>
                  <a:srgbClr val="225EA5"/>
                </a:solidFill>
                <a:latin typeface="Aptos"/>
              </a:rPr>
              <a:t>Schema uses relational keys to connect users, restaurants, orders, menus and food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Data preparation and query design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05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169164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0876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DATA TYPE MISMATCHES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5623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Date and numeric fields stored as text required CAST() and CONVERT() for aggregation.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417320"/>
            <a:ext cx="73152" cy="169164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50876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25EA5"/>
                </a:solidFill>
                <a:latin typeface="Aptos"/>
              </a:rPr>
              <a:t>NULL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85623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Missing ratings can skew averages; use IS NOT NULL filters and appropriate null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1732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73152" cy="1691640"/>
          </a:xfrm>
          <a:prstGeom prst="rect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0876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E09A28"/>
                </a:solidFill>
                <a:latin typeface="Aptos"/>
              </a:rPr>
              <a:t>DUPLICATE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ROW_NUMBER() with a CTE was used to identify duplicate records before final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52044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23160" y="3520440"/>
            <a:ext cx="73152" cy="169164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87752" y="361188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0844F"/>
                </a:solidFill>
                <a:latin typeface="Aptos"/>
              </a:rPr>
              <a:t>JOIN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7752" y="395935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Use clear aliases and LEFT JOIN logic where needed to preserve restaurant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520440"/>
            <a:ext cx="35661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3520440"/>
            <a:ext cx="73152" cy="169164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3611880"/>
            <a:ext cx="325526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959352"/>
            <a:ext cx="3255264" cy="117957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Compare query outputs with expected results before using them in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Relational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High-level view of the main table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06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213969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225EA5"/>
                </a:solidFill>
                <a:latin typeface="Aptos"/>
              </a:rPr>
              <a:t>users
PK: user_id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92024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FFEBEF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82312" y="2029968"/>
            <a:ext cx="213969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BE1230"/>
                </a:solidFill>
                <a:latin typeface="Aptos"/>
              </a:rPr>
              <a:t>orders
FK: user_id, 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92024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9F8E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05672" y="2029968"/>
            <a:ext cx="232257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20844F"/>
                </a:solidFill>
                <a:latin typeface="Aptos"/>
              </a:rPr>
              <a:t>restaurant
PK: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406908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4178808"/>
            <a:ext cx="213969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E09A28"/>
                </a:solidFill>
                <a:latin typeface="Aptos"/>
              </a:rPr>
              <a:t>menu
FK: r_id, f_id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069080"/>
            <a:ext cx="2468880" cy="1051560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05672" y="4178808"/>
            <a:ext cx="2322576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500" b="1" i="0">
                <a:solidFill>
                  <a:srgbClr val="225EA5"/>
                </a:solidFill>
                <a:latin typeface="Aptos"/>
              </a:rPr>
              <a:t>food
PK: f_id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2423160"/>
            <a:ext cx="1691640" cy="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95160" y="2423160"/>
            <a:ext cx="1737360" cy="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66960" y="2971800"/>
            <a:ext cx="0" cy="109728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4553712"/>
            <a:ext cx="1737360" cy="0"/>
          </a:xfrm>
          <a:prstGeom prst="line">
            <a:avLst/>
          </a:prstGeom>
          <a:ln w="25400">
            <a:solidFill>
              <a:srgbClr val="69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37560" y="2084831"/>
            <a:ext cx="105156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000" b="1" i="0">
                <a:solidFill>
                  <a:srgbClr val="696973"/>
                </a:solidFill>
                <a:latin typeface="Aptos"/>
              </a:rPr>
              <a:t>user_id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084831"/>
            <a:ext cx="137160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000" b="1" i="0">
                <a:solidFill>
                  <a:srgbClr val="696973"/>
                </a:solidFill>
                <a:latin typeface="Aptos"/>
              </a:rPr>
              <a:t>r_id /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3337560"/>
            <a:ext cx="11430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696973"/>
                </a:solidFill>
                <a:latin typeface="Aptos"/>
              </a:rPr>
              <a:t>menu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224528"/>
            <a:ext cx="128016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000" b="1" i="0">
                <a:solidFill>
                  <a:srgbClr val="696973"/>
                </a:solidFill>
                <a:latin typeface="Aptos"/>
              </a:rPr>
              <a:t>f_id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Five example analytical questions from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07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48132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44752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 dirty="0">
                <a:solidFill>
                  <a:srgbClr val="410E1B"/>
                </a:solidFill>
                <a:latin typeface="Aptos"/>
              </a:rPr>
              <a:t>Top 10 restaurants by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37360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SUM() • GROUP BY • ORDER BY DESC • LIMIT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04288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414016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414016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77440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Monthly order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70048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DATE_FORMAT() • COUNT() • GROUP BY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36976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346704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346704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10128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Menu pricing by cuisine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02736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AVG() • GROUP BY cuisine • ORDER 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9664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427939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279392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42816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Underperforming restaurants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35424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COUNT() • LEFT JOIN • HAVING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02352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521208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475488" cy="47548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175504"/>
            <a:ext cx="45720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410E1B"/>
                </a:solidFill>
                <a:latin typeface="Aptos"/>
              </a:rPr>
              <a:t>Cuisine demand by 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68112"/>
            <a:ext cx="896112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696973"/>
                </a:solidFill>
                <a:latin typeface="Aptos"/>
              </a:rPr>
              <a:t>JOIN • COUNT() • GROUP BY city and cuisine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21792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900" b="1">
                <a:solidFill>
                  <a:srgbClr val="DC3645"/>
                </a:solidFill>
                <a:latin typeface="Aptos"/>
              </a:rPr>
              <a:t>ZOMATO DATA ANALYSIS • ADDITIONAL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2500" b="1">
                <a:solidFill>
                  <a:srgbClr val="12233E"/>
                </a:solidFill>
                <a:latin typeface="Aptos"/>
              </a:rPr>
              <a:t>Customer Retention: Repeat vs One-Time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005841"/>
            <a:ext cx="10972800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0" dirty="0">
                <a:solidFill>
                  <a:srgbClr val="5C697B"/>
                </a:solidFill>
                <a:latin typeface="Aptos"/>
              </a:rPr>
              <a:t>Business question: </a:t>
            </a:r>
            <a:r>
              <a:rPr lang="en-GB" sz="1100" dirty="0">
                <a:solidFill>
                  <a:srgbClr val="5C697B"/>
                </a:solidFill>
                <a:latin typeface="Aptos"/>
              </a:rPr>
              <a:t> How many customers order repeatedly?</a:t>
            </a:r>
            <a:endParaRPr sz="1100" b="0" dirty="0">
              <a:solidFill>
                <a:srgbClr val="5C697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310896"/>
            <a:ext cx="6858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1">
                <a:solidFill>
                  <a:srgbClr val="5C697B"/>
                </a:solidFill>
                <a:latin typeface="Aptos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34924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623560" cy="397763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3035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QUERY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349240" cy="29260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212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000" b="1">
                <a:solidFill>
                  <a:srgbClr val="1C8487"/>
                </a:solidFill>
                <a:latin typeface="Aptos"/>
              </a:rPr>
              <a:t>BUSINESS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16636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200" b="0">
                <a:solidFill>
                  <a:srgbClr val="232C3A"/>
                </a:solidFill>
                <a:latin typeface="Aptos"/>
              </a:rPr>
              <a:t>44,480 repeat customers vs 33,452 one-time customers. Use retention campaigns and targeted offers to encourage one-time customers to return.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263640"/>
            <a:ext cx="1106424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800" b="0">
                <a:solidFill>
                  <a:srgbClr val="5C697B"/>
                </a:solidFill>
                <a:latin typeface="Aptos"/>
              </a:rPr>
              <a:t>Note: Results shown are from the provided MySQL screenshots; validate against final dataset before external reporting.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547117-7C12-204F-99F9-3C161DDFC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3" r="48561" b="14250"/>
          <a:stretch>
            <a:fillRect/>
          </a:stretch>
        </p:blipFill>
        <p:spPr>
          <a:xfrm>
            <a:off x="6720840" y="2042755"/>
            <a:ext cx="4434840" cy="24067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1047C1-6147-80AC-6776-65B3E45C3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093976"/>
            <a:ext cx="4876800" cy="3443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21792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900" b="1">
                <a:solidFill>
                  <a:srgbClr val="DC3645"/>
                </a:solidFill>
                <a:latin typeface="Aptos"/>
              </a:rPr>
              <a:t>ZOMATO DATA ANALYSIS • ADDITIONAL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2500" b="1">
                <a:solidFill>
                  <a:srgbClr val="12233E"/>
                </a:solidFill>
                <a:latin typeface="Aptos"/>
              </a:rPr>
              <a:t>High-Revenue, Low-Rated Restaurants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0" dirty="0">
                <a:solidFill>
                  <a:srgbClr val="5C697B"/>
                </a:solidFill>
                <a:latin typeface="Aptos"/>
              </a:rPr>
              <a:t>Business question: </a:t>
            </a:r>
            <a:r>
              <a:rPr lang="en-GB" sz="1100" dirty="0">
                <a:solidFill>
                  <a:srgbClr val="5C697B"/>
                </a:solidFill>
                <a:latin typeface="Aptos"/>
              </a:rPr>
              <a:t>Which restaurants earn well but have low ratings?</a:t>
            </a:r>
            <a:endParaRPr sz="1100" b="0" dirty="0">
              <a:solidFill>
                <a:srgbClr val="5C697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310896"/>
            <a:ext cx="6858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1">
                <a:solidFill>
                  <a:srgbClr val="5C697B"/>
                </a:solidFill>
                <a:latin typeface="Aptos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34924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623560" cy="397763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3035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QUERY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349240" cy="29260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hatsApp Image 2026-10-12 at 3.21.3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1" y="2067881"/>
            <a:ext cx="5140757" cy="34185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846320"/>
            <a:ext cx="5212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000" b="1">
                <a:solidFill>
                  <a:srgbClr val="1C8487"/>
                </a:solidFill>
                <a:latin typeface="Aptos"/>
              </a:rPr>
              <a:t>BUSINESS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16636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200" b="0">
                <a:solidFill>
                  <a:srgbClr val="232C3A"/>
                </a:solidFill>
                <a:latin typeface="Aptos"/>
              </a:rPr>
              <a:t>The result highlights restaurants with low ratings but substantial recorded revenue. Investigate customer feedback and service quality to protect customer satisfaction.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263640"/>
            <a:ext cx="1106424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800" b="0">
                <a:solidFill>
                  <a:srgbClr val="5C697B"/>
                </a:solidFill>
                <a:latin typeface="Aptos"/>
              </a:rPr>
              <a:t>Note: Results shown are from the provided MySQL screenshots; validate against final dataset before external reporting.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E4E363-0F22-B96A-438E-33E808CE2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4" r="27153"/>
          <a:stretch>
            <a:fillRect/>
          </a:stretch>
        </p:blipFill>
        <p:spPr>
          <a:xfrm>
            <a:off x="6720840" y="1956816"/>
            <a:ext cx="4663442" cy="25932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21792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900" b="1">
                <a:solidFill>
                  <a:srgbClr val="DC3645"/>
                </a:solidFill>
                <a:latin typeface="Aptos"/>
              </a:rPr>
              <a:t>ZOMATO DATA ANALYSIS • ADDITIONAL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2500" b="1" dirty="0">
                <a:solidFill>
                  <a:srgbClr val="12233E"/>
                </a:solidFill>
                <a:latin typeface="Aptos"/>
              </a:rPr>
              <a:t>Top-Selling Cuisine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9264"/>
            <a:ext cx="10972800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0" dirty="0">
                <a:solidFill>
                  <a:srgbClr val="5C697B"/>
                </a:solidFill>
                <a:latin typeface="Aptos"/>
              </a:rPr>
              <a:t>Business question: </a:t>
            </a:r>
            <a:r>
              <a:rPr lang="en-GB" sz="1100" dirty="0">
                <a:solidFill>
                  <a:srgbClr val="5C697B"/>
                </a:solidFill>
                <a:latin typeface="Aptos"/>
              </a:rPr>
              <a:t> Which cuisines generate the highest sales compared with other cuisines?</a:t>
            </a:r>
            <a:endParaRPr sz="1100" b="0" dirty="0">
              <a:solidFill>
                <a:srgbClr val="5C697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18520" y="310896"/>
            <a:ext cx="68580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1">
                <a:solidFill>
                  <a:srgbClr val="5C697B"/>
                </a:solidFill>
                <a:latin typeface="Aptos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34924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623560" cy="3977639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30352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1">
                <a:solidFill>
                  <a:srgbClr val="DC3645"/>
                </a:solidFill>
                <a:latin typeface="Aptos"/>
              </a:rPr>
              <a:t>QUERY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783080"/>
            <a:ext cx="5349240" cy="29260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21208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000" b="1">
                <a:solidFill>
                  <a:srgbClr val="1C8487"/>
                </a:solidFill>
                <a:latin typeface="Aptos"/>
              </a:rPr>
              <a:t>BUSINESS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166360" cy="6583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200" b="0">
                <a:solidFill>
                  <a:srgbClr val="232C3A"/>
                </a:solidFill>
                <a:latin typeface="Aptos"/>
              </a:rPr>
              <a:t>The output ranks 'North Indian,Chinese' first, followed by Indian and North Indian. Use cuisine-level results to guide marketing and partner discussions; comma-separated labels are treated as one category.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263640"/>
            <a:ext cx="11064240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800" b="0">
                <a:solidFill>
                  <a:srgbClr val="5C697B"/>
                </a:solidFill>
                <a:latin typeface="Aptos"/>
              </a:rPr>
              <a:t>Note: Results shown are from the provided MySQL screenshots; validate against final dataset before external reporting.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4BA29F-68C1-73B8-F124-77B8CB94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0" t="6702" r="25754" b="3330"/>
          <a:stretch>
            <a:fillRect/>
          </a:stretch>
        </p:blipFill>
        <p:spPr>
          <a:xfrm>
            <a:off x="6583680" y="2057401"/>
            <a:ext cx="4813402" cy="24268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413417-7D10-5E0A-B8A4-4A16C5EF9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0" t="4243" r="8450"/>
          <a:stretch>
            <a:fillRect/>
          </a:stretch>
        </p:blipFill>
        <p:spPr>
          <a:xfrm>
            <a:off x="702260" y="1956815"/>
            <a:ext cx="2999232" cy="36100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116BC6-AF17-3915-7E57-26D8FECB54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62" t="14101" r="26373" b="16788"/>
          <a:stretch>
            <a:fillRect/>
          </a:stretch>
        </p:blipFill>
        <p:spPr>
          <a:xfrm>
            <a:off x="3701492" y="1956815"/>
            <a:ext cx="2278684" cy="36100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Business findings from the three additional SQL analyses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Key findings reported in the original project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09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64592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0876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CUSTOMER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5623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44,480 repeat customers versus 33,452 one-time customers. Repeat customers are a valuable group to retain.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164592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50876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REPEAT-ORDER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5623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33,452 one-time customers represent an opportunity for targeted offers that encourage a second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645920"/>
          </a:xfrm>
          <a:prstGeom prst="rect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50876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HIGH REVENUE, LOW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85623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Some restaurants generate substantial recorded revenue despite ratings below 3.5. These partners may need service-quality reviews.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52044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68880" y="3520440"/>
            <a:ext cx="73152" cy="164592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33472" y="361188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TOP CUISINE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395935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The highest-ranked cuisine label is “North Indian,Chinese”, followed by “Indian” and “North Indian”.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2044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520440"/>
            <a:ext cx="73152" cy="164592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3611880"/>
            <a:ext cx="320954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BUSINESS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959352"/>
            <a:ext cx="3209544" cy="113385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Protect customer retention, investigate low-rated high-revenue restaurants, and use cuisine sales rankings to guide marketing tests.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232C3A"/>
                </a:solidFill>
                <a:latin typeface="Aptos"/>
              </a:rPr>
              <a:t>Insights are based on the SQL outputs shown on slides 8–10; validate figures against the final dataset before external reporting.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Recommendations directly linked to the customer, rating and cuisine SQL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Turn analysis into practical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11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035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27048"/>
            <a:ext cx="4974336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KEY INSIGHTS FROM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493775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62D"/>
                </a:solidFill>
                <a:latin typeface="Aptos"/>
              </a:defRPr>
            </a:pPr>
            <a:r>
              <a:rPr sz="1300">
                <a:solidFill>
                  <a:srgbClr val="232C3A"/>
                </a:solidFill>
                <a:latin typeface="Aptos"/>
              </a:rPr>
              <a:t>•  Customer retention: 44,480 repeat customers and 33,452 one-time customers.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Restaurant quality: identify high-revenue restaurants rated below 3.5.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Cuisine sales: “North Indian,Chinese” ranks first, followed by “Indian” and “North Indian”.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527048"/>
            <a:ext cx="4974336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232C3A"/>
                </a:solidFill>
                <a:latin typeface="Aptos"/>
              </a:rP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93775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62D"/>
                </a:solidFill>
                <a:latin typeface="Aptos"/>
              </a:defRPr>
            </a:pPr>
            <a:r>
              <a:rPr sz="1300">
                <a:solidFill>
                  <a:srgbClr val="232C3A"/>
                </a:solidFill>
                <a:latin typeface="Aptos"/>
              </a:rPr>
              <a:t>•  Run targeted win-back offers to convert one-time customers into repeat customers.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Review customer feedback, food consistency and service at high-revenue, low-rated restaurants.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Use cuisine sales rankings to plan promotional tests and restaurant-partner campaigns.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2C3A"/>
                </a:solidFill>
                <a:latin typeface="Aptos"/>
              </a:rPr>
              <a:t>•  Track repeat-order share, ratings and cuisine sales after each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82338"/>
                </a:solidFill>
                <a:latin typeface="Aptos Display"/>
              </a:rPr>
              <a:t>ZOMATO RESTAURANT BUSINESS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852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082"/>
                </a:solidFill>
                <a:latin typeface="Aptos"/>
              </a:rPr>
              <a:t>Interactive-style overview • SQL-derived metrics • Business insights</a:t>
            </a:r>
          </a:p>
        </p:txBody>
      </p:sp>
      <p:pic>
        <p:nvPicPr>
          <p:cNvPr id="5" name="Picture 4" descr="Zomato Restaurant Analytics Dashboard (1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629400"/>
            <a:ext cx="11430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47082"/>
                </a:solidFill>
                <a:latin typeface="Aptos"/>
              </a:rPr>
              <a:t>Source: uploaded project dashboard image • Validate displayed metrics against final SQL query outputs.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828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D2DC"/>
                </a:solidFill>
                <a:latin typeface="Aptos"/>
              </a:rPr>
              <a:t>ZOMATO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155680" cy="4389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49808"/>
            <a:ext cx="10972800" cy="21031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100" b="0" i="0">
                <a:solidFill>
                  <a:srgbClr val="FFE6EB"/>
                </a:solidFill>
                <a:latin typeface="Aptos"/>
              </a:rPr>
              <a:t>End-to-end data analysis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914400" cy="1828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r"/>
            <a:r>
              <a:rPr sz="900" b="1" i="0">
                <a:solidFill>
                  <a:srgbClr val="696973"/>
                </a:solidFill>
                <a:latin typeface="Aptos"/>
              </a:rPr>
              <a:t>13  /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828800"/>
          </a:xfrm>
          <a:prstGeom prst="rect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00200"/>
            <a:ext cx="31181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BE1230"/>
                </a:solidFill>
                <a:latin typeface="Aptos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47672"/>
            <a:ext cx="31181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Built a normalized MySQL database structure for restaurant-related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600200"/>
            <a:ext cx="31181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25EA5"/>
                </a:solidFill>
                <a:latin typeface="Aptos"/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47672"/>
            <a:ext cx="31181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Used SQL to explore sales, restaurants, cuisines and customer trends.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73152" cy="1828800"/>
          </a:xfrm>
          <a:prstGeom prst="rect">
            <a:avLst/>
          </a:prstGeom>
          <a:solidFill>
            <a:srgbClr val="20844F"/>
          </a:solidFill>
          <a:ln>
            <a:solidFill>
              <a:srgbClr val="20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600200"/>
            <a:ext cx="3118104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500" b="1" i="0">
                <a:solidFill>
                  <a:srgbClr val="20844F"/>
                </a:solidFill>
                <a:latin typeface="Aptos"/>
              </a:rPr>
              <a:t>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47672"/>
            <a:ext cx="3118104" cy="1316736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/>
            <a:r>
              <a:rPr sz="1400" b="0" i="0">
                <a:solidFill>
                  <a:srgbClr val="26262D"/>
                </a:solidFill>
                <a:latin typeface="Aptos"/>
              </a:rPr>
              <a:t>Presented insights and recommendations through dashboard-style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424160" cy="5029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900" b="1" i="0">
                <a:solidFill>
                  <a:srgbClr val="410E1B"/>
                </a:solidFill>
                <a:latin typeface="Aptos"/>
              </a:rPr>
              <a:t>From data tables → validated queries → visual reporting → business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09160"/>
            <a:ext cx="9875520" cy="6400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3000" b="1" i="0">
                <a:solidFill>
                  <a:srgbClr val="BE1230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94960"/>
            <a:ext cx="987552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/>
            <a:r>
              <a:rPr sz="1400" b="0" i="0">
                <a:solidFill>
                  <a:srgbClr val="696973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274320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SELECT STAR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9601200" cy="8686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784080" cy="4572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2100" b="0" i="0">
                <a:solidFill>
                  <a:srgbClr val="FFE1E7"/>
                </a:solidFill>
                <a:latin typeface="Aptos"/>
              </a:rPr>
              <a:t>Zomato Restaurant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5852160" cy="1965960"/>
          </a:xfrm>
          <a:prstGeom prst="roundRect">
            <a:avLst>
              <a:gd name="adj" fmla="val 12000"/>
            </a:avLst>
          </a:prstGeom>
          <a:solidFill>
            <a:srgbClr val="531426"/>
          </a:solidFill>
          <a:ln>
            <a:solidFill>
              <a:srgbClr val="82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5303520" cy="32004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200" b="1" i="0">
                <a:solidFill>
                  <a:srgbClr val="FFBECD"/>
                </a:solidFill>
                <a:latin typeface="Aptos"/>
              </a:rPr>
              <a:t>PROJECT TEAM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731520"/>
            <a:ext cx="1463040" cy="1463040"/>
          </a:xfrm>
          <a:prstGeom prst="ellipse">
            <a:avLst/>
          </a:prstGeom>
          <a:solidFill>
            <a:srgbClr val="BE1230"/>
          </a:solidFill>
          <a:ln>
            <a:solidFill>
              <a:srgbClr val="BE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75520" y="2286000"/>
            <a:ext cx="1005840" cy="1005840"/>
          </a:xfrm>
          <a:prstGeom prst="ellipse">
            <a:avLst/>
          </a:prstGeom>
          <a:solidFill>
            <a:srgbClr val="E09A28"/>
          </a:solidFill>
          <a:ln>
            <a:solidFill>
              <a:srgbClr val="E09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0" y="4023360"/>
            <a:ext cx="1554480" cy="1554480"/>
          </a:xfrm>
          <a:prstGeom prst="ellipse">
            <a:avLst/>
          </a:prstGeom>
          <a:solidFill>
            <a:srgbClr val="780F28"/>
          </a:solidFill>
          <a:ln>
            <a:solidFill>
              <a:srgbClr val="780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07040" y="4754880"/>
            <a:ext cx="640080" cy="640080"/>
          </a:xfrm>
          <a:prstGeom prst="ellipse">
            <a:avLst/>
          </a:prstGeom>
          <a:solidFill>
            <a:srgbClr val="225EA5"/>
          </a:solidFill>
          <a:ln>
            <a:solidFill>
              <a:srgbClr val="22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5029200" cy="22860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/>
            <a:r>
              <a:rPr sz="1000" b="1" i="0">
                <a:solidFill>
                  <a:srgbClr val="FFBECD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994784-89DF-6D62-78DD-C14BC6EA9F97}"/>
              </a:ext>
            </a:extLst>
          </p:cNvPr>
          <p:cNvSpPr txBox="1"/>
          <p:nvPr/>
        </p:nvSpPr>
        <p:spPr>
          <a:xfrm>
            <a:off x="944880" y="3931920"/>
            <a:ext cx="5303520" cy="960263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Yukta Jaysingpure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500" b="0" i="0" dirty="0">
                <a:solidFill>
                  <a:srgbClr val="FFFFFF"/>
                </a:solidFill>
                <a:latin typeface="Aptos"/>
              </a:rPr>
              <a:t>Monika Mengawade</a:t>
            </a:r>
            <a:r>
              <a:rPr sz="1500" b="0" i="0" dirty="0">
                <a:solidFill>
                  <a:srgbClr val="FFFFFF"/>
                </a:solidFill>
                <a:latin typeface="Aptos"/>
              </a:rPr>
              <a:t>
</a:t>
            </a:r>
            <a:r>
              <a:rPr lang="en-GB" sz="1500" b="0" i="0" dirty="0">
                <a:solidFill>
                  <a:srgbClr val="FFFFFF"/>
                </a:solidFill>
                <a:latin typeface="Aptos"/>
              </a:rPr>
              <a:t>Akash Jadhao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500" b="0" i="0" dirty="0">
                <a:solidFill>
                  <a:srgbClr val="FFFFFF"/>
                </a:solidFill>
                <a:latin typeface="Aptos"/>
              </a:rPr>
              <a:t>Revan </a:t>
            </a:r>
            <a:r>
              <a:rPr sz="1500" b="0" i="0" dirty="0" err="1">
                <a:solidFill>
                  <a:srgbClr val="FFFFFF"/>
                </a:solidFill>
                <a:latin typeface="Aptos"/>
              </a:rPr>
              <a:t>Gunjal</a:t>
            </a:r>
            <a:endParaRPr sz="1500" b="0" i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1141</Words>
  <Application>Microsoft Office PowerPoint</Application>
  <PresentationFormat>Widescreen</PresentationFormat>
  <Paragraphs>207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Akash Jadhao</dc:creator>
  <cp:keywords/>
  <dc:description>generated using python-pptx</dc:description>
  <cp:lastModifiedBy>Akash Jadhao</cp:lastModifiedBy>
  <cp:revision>8</cp:revision>
  <dcterms:created xsi:type="dcterms:W3CDTF">2013-01-27T09:14:16Z</dcterms:created>
  <dcterms:modified xsi:type="dcterms:W3CDTF">2026-10-13T05:05:48Z</dcterms:modified>
  <cp:category/>
</cp:coreProperties>
</file>